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Montserrat"/>
      <p:regular r:id="rId15"/>
      <p:bold r:id="rId16"/>
      <p:italic r:id="rId17"/>
      <p:boldItalic r:id="rId18"/>
    </p:embeddedFont>
    <p:embeddedFont>
      <p:font typeface="La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.fntdata"/><Relationship Id="rId11" Type="http://schemas.openxmlformats.org/officeDocument/2006/relationships/slide" Target="slides/slide6.xml"/><Relationship Id="rId22" Type="http://schemas.openxmlformats.org/officeDocument/2006/relationships/font" Target="fonts/Lato-boldItalic.fntdata"/><Relationship Id="rId10" Type="http://schemas.openxmlformats.org/officeDocument/2006/relationships/slide" Target="slides/slide5.xml"/><Relationship Id="rId21" Type="http://schemas.openxmlformats.org/officeDocument/2006/relationships/font" Target="fonts/La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regular.fntdata"/><Relationship Id="rId14" Type="http://schemas.openxmlformats.org/officeDocument/2006/relationships/slide" Target="slides/slide9.xml"/><Relationship Id="rId17" Type="http://schemas.openxmlformats.org/officeDocument/2006/relationships/font" Target="fonts/Montserrat-italic.fntdata"/><Relationship Id="rId16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regular.fntdata"/><Relationship Id="rId6" Type="http://schemas.openxmlformats.org/officeDocument/2006/relationships/slide" Target="slides/slide1.xml"/><Relationship Id="rId18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fc43fcb4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efc43fcb4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fc43fcb46_0_2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efc43fcb46_0_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097be9775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f097be977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f097be9775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f097be9775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097be9775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097be9775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097be9775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f097be977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097be9775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f097be9775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efc43fcb46_0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efc43fcb46_0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1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1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91"/>
              <a:buNone/>
            </a:pPr>
            <a:r>
              <a:rPr lang="ru" sz="4020"/>
              <a:t>Parking space reservation chatbot</a:t>
            </a:r>
            <a:endParaRPr sz="4020"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052550" y="359325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General information retrieval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900" y="1438587"/>
            <a:ext cx="7846498" cy="33578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052550" y="35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1.1)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39325" y="2257150"/>
            <a:ext cx="257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Updated with admin </a:t>
            </a: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approval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Success scenario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Single session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8875" y="896575"/>
            <a:ext cx="6398649" cy="3923826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2338875" y="4820400"/>
            <a:ext cx="453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* ready to submit request</a:t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"/>
          <p:cNvSpPr txBox="1"/>
          <p:nvPr>
            <p:ph type="title"/>
          </p:nvPr>
        </p:nvSpPr>
        <p:spPr>
          <a:xfrm>
            <a:off x="1052550" y="35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1.2)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39325" y="2257150"/>
            <a:ext cx="257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Updated with admin approval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Success scenario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Single session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57" name="Google Shape;15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8850" y="896575"/>
            <a:ext cx="6412449" cy="392382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2338850" y="4820400"/>
            <a:ext cx="453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* submit request and wait for approval</a:t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7"/>
          <p:cNvSpPr txBox="1"/>
          <p:nvPr>
            <p:ph type="title"/>
          </p:nvPr>
        </p:nvSpPr>
        <p:spPr>
          <a:xfrm>
            <a:off x="1052550" y="35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1.3)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39325" y="2257150"/>
            <a:ext cx="257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Updated with admin approval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Success scenario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Single session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65" name="Google Shape;16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8475" y="902700"/>
            <a:ext cx="6407050" cy="3917701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7"/>
          <p:cNvSpPr txBox="1"/>
          <p:nvPr/>
        </p:nvSpPr>
        <p:spPr>
          <a:xfrm>
            <a:off x="2338475" y="4820400"/>
            <a:ext cx="453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* approval received</a:t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 txBox="1"/>
          <p:nvPr>
            <p:ph type="title"/>
          </p:nvPr>
        </p:nvSpPr>
        <p:spPr>
          <a:xfrm>
            <a:off x="1052550" y="35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2.1)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39325" y="2257150"/>
            <a:ext cx="257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Updated with admin approval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Failed scenario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Resumed session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73" name="Google Shape;17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8875" y="899300"/>
            <a:ext cx="6398773" cy="392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8"/>
          <p:cNvSpPr txBox="1"/>
          <p:nvPr/>
        </p:nvSpPr>
        <p:spPr>
          <a:xfrm>
            <a:off x="2338875" y="4820400"/>
            <a:ext cx="453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* submit request and exit from chatbot</a:t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9"/>
          <p:cNvSpPr txBox="1"/>
          <p:nvPr>
            <p:ph type="title"/>
          </p:nvPr>
        </p:nvSpPr>
        <p:spPr>
          <a:xfrm>
            <a:off x="1052550" y="35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2.2)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39325" y="2257150"/>
            <a:ext cx="257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Updated with admin approval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Failed scenario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Resumed session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81" name="Google Shape;18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4600" y="902100"/>
            <a:ext cx="6398801" cy="39183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9"/>
          <p:cNvSpPr txBox="1"/>
          <p:nvPr/>
        </p:nvSpPr>
        <p:spPr>
          <a:xfrm>
            <a:off x="2354600" y="4820400"/>
            <a:ext cx="453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* reject request on admin side</a:t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 txBox="1"/>
          <p:nvPr>
            <p:ph type="title"/>
          </p:nvPr>
        </p:nvSpPr>
        <p:spPr>
          <a:xfrm>
            <a:off x="1052550" y="35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Reservation process (part 2.3)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39325" y="2257150"/>
            <a:ext cx="25797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Updated with admin approval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Failed scenario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Resumed session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89" name="Google Shape;18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6700" y="902850"/>
            <a:ext cx="6398823" cy="3917551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0"/>
          <p:cNvSpPr txBox="1"/>
          <p:nvPr/>
        </p:nvSpPr>
        <p:spPr>
          <a:xfrm>
            <a:off x="2346700" y="4820400"/>
            <a:ext cx="453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9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* receive rejection from history</a:t>
            </a:r>
            <a:endParaRPr sz="9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1"/>
          <p:cNvSpPr txBox="1"/>
          <p:nvPr>
            <p:ph type="title"/>
          </p:nvPr>
        </p:nvSpPr>
        <p:spPr>
          <a:xfrm>
            <a:off x="1305350" y="354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Evaluation</a:t>
            </a:r>
            <a:endParaRPr/>
          </a:p>
        </p:txBody>
      </p:sp>
      <p:pic>
        <p:nvPicPr>
          <p:cNvPr id="196" name="Google Shape;196;p21" title="Screenshot 2026-06-28 235405.png"/>
          <p:cNvPicPr preferRelativeResize="0"/>
          <p:nvPr/>
        </p:nvPicPr>
        <p:blipFill rotWithShape="1">
          <a:blip r:embed="rId3">
            <a:alphaModFix/>
          </a:blip>
          <a:srcRect b="-2440" l="-14106" r="47190" t="2440"/>
          <a:stretch/>
        </p:blipFill>
        <p:spPr>
          <a:xfrm>
            <a:off x="375100" y="1594638"/>
            <a:ext cx="6781775" cy="2857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